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DM Sans Medium"/>
      <p:regular r:id="rId23"/>
      <p:bold r:id="rId24"/>
      <p:italic r:id="rId25"/>
      <p:boldItalic r:id="rId26"/>
    </p:embeddedFont>
    <p:embeddedFont>
      <p:font typeface="Merriweather"/>
      <p:regular r:id="rId27"/>
      <p:bold r:id="rId28"/>
      <p:italic r:id="rId29"/>
      <p:boldItalic r:id="rId30"/>
    </p:embeddedFont>
    <p:embeddedFont>
      <p:font typeface="DM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F9A3FF-2DAB-4B3C-BBC3-51902FD43E3B}">
  <a:tblStyle styleId="{52F9A3FF-2DAB-4B3C-BBC3-51902FD43E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DMSansMedium-bold.fntdata"/><Relationship Id="rId23" Type="http://schemas.openxmlformats.org/officeDocument/2006/relationships/font" Target="fonts/DMSans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DMSansMedium-boldItalic.fntdata"/><Relationship Id="rId25" Type="http://schemas.openxmlformats.org/officeDocument/2006/relationships/font" Target="fonts/DMSansMedium-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erriweather-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DMSans-regular.fntdata"/><Relationship Id="rId30" Type="http://schemas.openxmlformats.org/officeDocument/2006/relationships/font" Target="fonts/Merriweather-boldItalic.fntdata"/><Relationship Id="rId11" Type="http://schemas.openxmlformats.org/officeDocument/2006/relationships/slide" Target="slides/slide4.xml"/><Relationship Id="rId33" Type="http://schemas.openxmlformats.org/officeDocument/2006/relationships/font" Target="fonts/DMSans-italic.fntdata"/><Relationship Id="rId10" Type="http://schemas.openxmlformats.org/officeDocument/2006/relationships/slide" Target="slides/slide3.xml"/><Relationship Id="rId32" Type="http://schemas.openxmlformats.org/officeDocument/2006/relationships/font" Target="fonts/DMSans-bold.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DM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122febbfe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2122febbfe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2122febbfe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2122febbfe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1dceab98b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1dceab98b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1dceab98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1dceab98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1dceab98b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1dceab98b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dceab98b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dceab98b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1dd9f88fec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1dd9f88fec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1dd9f88fe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1dd9f88fe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213d1e2d1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213d1e2d1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1dceab98b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1dceab98b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213d1e2d1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213d1e2d1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213d1e2d1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213d1e2d1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213d1e2d1d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213d1e2d1d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Precision recall curve indicates the trade off between the increase in recall and the decrease in precision. So as the recall value increases, that is, as more objects are added/as the model begins to identify more objects, it becomes less and less precise in terms of properly classifying the detected objects. As you can see, it performed the worse for people (lowest AUC) and the best for cars – larger AUC and higher threshold. Even as more objects are added, model is still able to properly identify a car.</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213d1e2d1d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213d1e2d1d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dceab98b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1dceab98b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8.jpg"/><Relationship Id="rId8"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197375" y="8241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Traffic Detection System</a:t>
            </a:r>
            <a:endParaRPr sz="4500"/>
          </a:p>
        </p:txBody>
      </p:sp>
      <p:sp>
        <p:nvSpPr>
          <p:cNvPr id="263" name="Google Shape;263;p44"/>
          <p:cNvSpPr txBox="1"/>
          <p:nvPr>
            <p:ph idx="4294967295" type="subTitle"/>
          </p:nvPr>
        </p:nvSpPr>
        <p:spPr>
          <a:xfrm>
            <a:off x="197375" y="3562200"/>
            <a:ext cx="3986700" cy="158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EFEFEF"/>
                </a:solidFill>
              </a:rPr>
              <a:t>Group 11</a:t>
            </a:r>
            <a:endParaRPr b="1" sz="1200">
              <a:solidFill>
                <a:srgbClr val="EFEFEF"/>
              </a:solidFill>
            </a:endParaRPr>
          </a:p>
          <a:p>
            <a:pPr indent="0" lvl="0" marL="0" rtl="0" algn="l">
              <a:spcBef>
                <a:spcPts val="1200"/>
              </a:spcBef>
              <a:spcAft>
                <a:spcPts val="0"/>
              </a:spcAft>
              <a:buNone/>
            </a:pPr>
            <a:r>
              <a:rPr lang="en" sz="1200">
                <a:solidFill>
                  <a:srgbClr val="EFEFEF"/>
                </a:solidFill>
              </a:rPr>
              <a:t>Rohan Hughes</a:t>
            </a:r>
            <a:endParaRPr sz="1200">
              <a:solidFill>
                <a:srgbClr val="EFEFEF"/>
              </a:solidFill>
            </a:endParaRPr>
          </a:p>
          <a:p>
            <a:pPr indent="0" lvl="0" marL="0" rtl="0" algn="l">
              <a:spcBef>
                <a:spcPts val="1200"/>
              </a:spcBef>
              <a:spcAft>
                <a:spcPts val="0"/>
              </a:spcAft>
              <a:buNone/>
            </a:pPr>
            <a:r>
              <a:rPr lang="en" sz="1200">
                <a:solidFill>
                  <a:srgbClr val="EFEFEF"/>
                </a:solidFill>
              </a:rPr>
              <a:t>Shih-Chi Han</a:t>
            </a:r>
            <a:endParaRPr sz="1200">
              <a:solidFill>
                <a:srgbClr val="EFEFEF"/>
              </a:solidFill>
            </a:endParaRPr>
          </a:p>
          <a:p>
            <a:pPr indent="0" lvl="0" marL="0" rtl="0" algn="l">
              <a:spcBef>
                <a:spcPts val="1200"/>
              </a:spcBef>
              <a:spcAft>
                <a:spcPts val="1200"/>
              </a:spcAft>
              <a:buNone/>
            </a:pPr>
            <a:r>
              <a:t/>
            </a:r>
            <a:endParaRPr/>
          </a:p>
        </p:txBody>
      </p:sp>
      <p:pic>
        <p:nvPicPr>
          <p:cNvPr id="264" name="Google Shape;264;p44"/>
          <p:cNvPicPr preferRelativeResize="0"/>
          <p:nvPr/>
        </p:nvPicPr>
        <p:blipFill>
          <a:blip r:embed="rId3">
            <a:alphaModFix/>
          </a:blip>
          <a:stretch>
            <a:fillRect/>
          </a:stretch>
        </p:blipFill>
        <p:spPr>
          <a:xfrm>
            <a:off x="3583350" y="1807100"/>
            <a:ext cx="5560650" cy="33364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6894" lvl="0" marL="457200" rtl="0" algn="l">
              <a:lnSpc>
                <a:spcPct val="200000"/>
              </a:lnSpc>
              <a:spcBef>
                <a:spcPts val="0"/>
              </a:spcBef>
              <a:spcAft>
                <a:spcPts val="0"/>
              </a:spcAft>
              <a:buClr>
                <a:schemeClr val="hlink"/>
              </a:buClr>
              <a:buSzPts val="1390"/>
              <a:buChar char="●"/>
            </a:pPr>
            <a:r>
              <a:rPr lang="en" sz="1390">
                <a:solidFill>
                  <a:schemeClr val="hlink"/>
                </a:solidFill>
              </a:rPr>
              <a:t>Traffic congestion and accidents are persistent challenges in urban areas</a:t>
            </a:r>
            <a:endParaRPr sz="1390">
              <a:solidFill>
                <a:schemeClr val="hlink"/>
              </a:solidFill>
            </a:endParaRPr>
          </a:p>
          <a:p>
            <a:pPr indent="-316894" lvl="0" marL="457200" rtl="0" algn="l">
              <a:lnSpc>
                <a:spcPct val="200000"/>
              </a:lnSpc>
              <a:spcBef>
                <a:spcPts val="0"/>
              </a:spcBef>
              <a:spcAft>
                <a:spcPts val="0"/>
              </a:spcAft>
              <a:buClr>
                <a:schemeClr val="hlink"/>
              </a:buClr>
              <a:buSzPts val="1390"/>
              <a:buChar char="●"/>
            </a:pPr>
            <a:r>
              <a:rPr lang="en" sz="1390">
                <a:solidFill>
                  <a:schemeClr val="hlink"/>
                </a:solidFill>
              </a:rPr>
              <a:t>United States in 2022, 42,514 people died in motor vehicle crashes </a:t>
            </a:r>
            <a:endParaRPr sz="1390">
              <a:solidFill>
                <a:schemeClr val="hlink"/>
              </a:solidFill>
            </a:endParaRPr>
          </a:p>
          <a:p>
            <a:pPr indent="457200" lvl="0" marL="0" rtl="0" algn="l">
              <a:lnSpc>
                <a:spcPct val="200000"/>
              </a:lnSpc>
              <a:spcBef>
                <a:spcPts val="0"/>
              </a:spcBef>
              <a:spcAft>
                <a:spcPts val="0"/>
              </a:spcAft>
              <a:buNone/>
            </a:pPr>
            <a:r>
              <a:rPr lang="en" sz="1390">
                <a:solidFill>
                  <a:schemeClr val="hlink"/>
                </a:solidFill>
              </a:rPr>
              <a:t>(average of 120 people per day)</a:t>
            </a:r>
            <a:endParaRPr sz="1390">
              <a:solidFill>
                <a:schemeClr val="hlink"/>
              </a:solidFill>
            </a:endParaRPr>
          </a:p>
          <a:p>
            <a:pPr indent="-316894" lvl="0" marL="457200" rtl="0" algn="l">
              <a:lnSpc>
                <a:spcPct val="200000"/>
              </a:lnSpc>
              <a:spcBef>
                <a:spcPts val="0"/>
              </a:spcBef>
              <a:spcAft>
                <a:spcPts val="0"/>
              </a:spcAft>
              <a:buClr>
                <a:schemeClr val="hlink"/>
              </a:buClr>
              <a:buSzPts val="1390"/>
              <a:buChar char="●"/>
            </a:pPr>
            <a:r>
              <a:rPr lang="en" sz="1390">
                <a:solidFill>
                  <a:schemeClr val="hlink"/>
                </a:solidFill>
              </a:rPr>
              <a:t>Drivers lose 42 hours on average in traffic </a:t>
            </a:r>
            <a:endParaRPr sz="1390">
              <a:solidFill>
                <a:schemeClr val="hlink"/>
              </a:solidFill>
            </a:endParaRPr>
          </a:p>
          <a:p>
            <a:pPr indent="-316894" lvl="0" marL="457200" rtl="0" algn="l">
              <a:lnSpc>
                <a:spcPct val="200000"/>
              </a:lnSpc>
              <a:spcBef>
                <a:spcPts val="0"/>
              </a:spcBef>
              <a:spcAft>
                <a:spcPts val="0"/>
              </a:spcAft>
              <a:buClr>
                <a:schemeClr val="hlink"/>
              </a:buClr>
              <a:buSzPts val="1390"/>
              <a:buChar char="●"/>
            </a:pPr>
            <a:r>
              <a:rPr lang="en" sz="1390">
                <a:solidFill>
                  <a:schemeClr val="hlink"/>
                </a:solidFill>
              </a:rPr>
              <a:t>AI-based traffic monitoring system ai</a:t>
            </a:r>
            <a:r>
              <a:rPr lang="en" sz="1390">
                <a:solidFill>
                  <a:schemeClr val="hlink"/>
                </a:solidFill>
              </a:rPr>
              <a:t>m</a:t>
            </a:r>
            <a:r>
              <a:rPr lang="en" sz="1390">
                <a:solidFill>
                  <a:schemeClr val="hlink"/>
                </a:solidFill>
              </a:rPr>
              <a:t>s to reduce accidents, enhance traffic efficiency, facilitate quicker responses to incidents </a:t>
            </a:r>
            <a:endParaRPr sz="1390">
              <a:solidFill>
                <a:schemeClr val="hlink"/>
              </a:solidFill>
            </a:endParaRPr>
          </a:p>
          <a:p>
            <a:pPr indent="-316894" lvl="0" marL="457200" rtl="0" algn="l">
              <a:lnSpc>
                <a:spcPct val="200000"/>
              </a:lnSpc>
              <a:spcBef>
                <a:spcPts val="0"/>
              </a:spcBef>
              <a:spcAft>
                <a:spcPts val="0"/>
              </a:spcAft>
              <a:buClr>
                <a:schemeClr val="hlink"/>
              </a:buClr>
              <a:buSzPts val="1390"/>
              <a:buChar char="●"/>
            </a:pPr>
            <a:r>
              <a:rPr lang="en" sz="1390">
                <a:solidFill>
                  <a:schemeClr val="hlink"/>
                </a:solidFill>
              </a:rPr>
              <a:t>Project proposes object detection techniques to analyze and predict traffic patterns</a:t>
            </a:r>
            <a:endParaRPr sz="1390">
              <a:solidFill>
                <a:schemeClr val="hlink"/>
              </a:solidFill>
            </a:endParaRPr>
          </a:p>
          <a:p>
            <a:pPr indent="0" lvl="0" marL="0" rtl="0" algn="l">
              <a:lnSpc>
                <a:spcPct val="200000"/>
              </a:lnSpc>
              <a:spcBef>
                <a:spcPts val="0"/>
              </a:spcBef>
              <a:spcAft>
                <a:spcPts val="1200"/>
              </a:spcAft>
              <a:buNone/>
            </a:pPr>
            <a:r>
              <a:t/>
            </a:r>
            <a:endParaRPr sz="1400"/>
          </a:p>
        </p:txBody>
      </p:sp>
      <p:sp>
        <p:nvSpPr>
          <p:cNvPr id="270" name="Google Shape;27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Introduction/Motivation</a:t>
            </a:r>
            <a:endParaRPr/>
          </a:p>
        </p:txBody>
      </p:sp>
      <p:pic>
        <p:nvPicPr>
          <p:cNvPr id="271" name="Google Shape;271;p45"/>
          <p:cNvPicPr preferRelativeResize="0"/>
          <p:nvPr>
            <p:ph idx="2" type="pic"/>
          </p:nvPr>
        </p:nvPicPr>
        <p:blipFill rotWithShape="1">
          <a:blip r:embed="rId3">
            <a:alphaModFix/>
          </a:blip>
          <a:srcRect b="0" l="17074" r="17074" t="0"/>
          <a:stretch/>
        </p:blipFill>
        <p:spPr>
          <a:xfrm>
            <a:off x="6954625" y="0"/>
            <a:ext cx="2189376" cy="1947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Past Solutions</a:t>
            </a:r>
            <a:endParaRPr/>
          </a:p>
        </p:txBody>
      </p:sp>
      <p:sp>
        <p:nvSpPr>
          <p:cNvPr id="277" name="Google Shape;277;p46"/>
          <p:cNvSpPr txBox="1"/>
          <p:nvPr>
            <p:ph idx="1" type="body"/>
          </p:nvPr>
        </p:nvSpPr>
        <p:spPr>
          <a:xfrm>
            <a:off x="311700" y="1152475"/>
            <a:ext cx="8520600" cy="35373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hlink"/>
              </a:buClr>
              <a:buSzPts val="1400"/>
              <a:buFont typeface="Times New Roman"/>
              <a:buChar char="●"/>
            </a:pPr>
            <a:r>
              <a:rPr lang="en" sz="1400">
                <a:solidFill>
                  <a:schemeClr val="hlink"/>
                </a:solidFill>
              </a:rPr>
              <a:t>Road safety regulations - speed limits, seat belt laws, cracking down on drunk driving. </a:t>
            </a:r>
            <a:endParaRPr sz="1400">
              <a:solidFill>
                <a:schemeClr val="hlink"/>
              </a:solidFill>
            </a:endParaRPr>
          </a:p>
          <a:p>
            <a:pPr indent="-317500" lvl="0" marL="457200" rtl="0" algn="l">
              <a:lnSpc>
                <a:spcPct val="200000"/>
              </a:lnSpc>
              <a:spcBef>
                <a:spcPts val="0"/>
              </a:spcBef>
              <a:spcAft>
                <a:spcPts val="0"/>
              </a:spcAft>
              <a:buClr>
                <a:schemeClr val="hlink"/>
              </a:buClr>
              <a:buSzPts val="1400"/>
              <a:buFont typeface="Times New Roman"/>
              <a:buChar char="●"/>
            </a:pPr>
            <a:r>
              <a:rPr lang="en" sz="1400">
                <a:solidFill>
                  <a:schemeClr val="hlink"/>
                </a:solidFill>
              </a:rPr>
              <a:t>Infrastructure improvements - maintaining/improving road conditions, HOV lanes, public transit</a:t>
            </a:r>
            <a:endParaRPr sz="1400">
              <a:solidFill>
                <a:schemeClr val="hlink"/>
              </a:solidFill>
            </a:endParaRPr>
          </a:p>
          <a:p>
            <a:pPr indent="-317500" lvl="0" marL="457200" rtl="0" algn="l">
              <a:lnSpc>
                <a:spcPct val="200000"/>
              </a:lnSpc>
              <a:spcBef>
                <a:spcPts val="0"/>
              </a:spcBef>
              <a:spcAft>
                <a:spcPts val="0"/>
              </a:spcAft>
              <a:buClr>
                <a:schemeClr val="hlink"/>
              </a:buClr>
              <a:buSzPts val="1400"/>
              <a:buFont typeface="Times New Roman"/>
              <a:buChar char="●"/>
            </a:pPr>
            <a:r>
              <a:rPr lang="en" sz="1400">
                <a:solidFill>
                  <a:schemeClr val="hlink"/>
                </a:solidFill>
              </a:rPr>
              <a:t>Urban planning - walkable cities, improved cycling infrastructure</a:t>
            </a:r>
            <a:endParaRPr sz="1400">
              <a:solidFill>
                <a:schemeClr val="hlink"/>
              </a:solidFill>
            </a:endParaRPr>
          </a:p>
          <a:p>
            <a:pPr indent="-317500" lvl="0" marL="457200" rtl="0" algn="l">
              <a:lnSpc>
                <a:spcPct val="200000"/>
              </a:lnSpc>
              <a:spcBef>
                <a:spcPts val="0"/>
              </a:spcBef>
              <a:spcAft>
                <a:spcPts val="0"/>
              </a:spcAft>
              <a:buClr>
                <a:schemeClr val="hlink"/>
              </a:buClr>
              <a:buSzPts val="1400"/>
              <a:buFont typeface="Times New Roman"/>
              <a:buChar char="●"/>
            </a:pPr>
            <a:r>
              <a:rPr lang="en" sz="1400">
                <a:solidFill>
                  <a:schemeClr val="hlink"/>
                </a:solidFill>
              </a:rPr>
              <a:t>Technological advancement - Google Maps and Waze </a:t>
            </a:r>
            <a:endParaRPr sz="1400">
              <a:solidFill>
                <a:schemeClr val="hlink"/>
              </a:solidFill>
            </a:endParaRPr>
          </a:p>
          <a:p>
            <a:pPr indent="-317500" lvl="0" marL="457200" rtl="0" algn="l">
              <a:lnSpc>
                <a:spcPct val="200000"/>
              </a:lnSpc>
              <a:spcBef>
                <a:spcPts val="0"/>
              </a:spcBef>
              <a:spcAft>
                <a:spcPts val="0"/>
              </a:spcAft>
              <a:buClr>
                <a:schemeClr val="hlink"/>
              </a:buClr>
              <a:buSzPts val="1400"/>
              <a:buFont typeface="Times New Roman"/>
              <a:buChar char="●"/>
            </a:pPr>
            <a:r>
              <a:rPr lang="en" sz="1400">
                <a:solidFill>
                  <a:schemeClr val="hlink"/>
                </a:solidFill>
              </a:rPr>
              <a:t>Vehicle safety technology - airbags, anti-lock braking systems (ABS), electronic stability control (ESC), lane-keeping assist, automatic emergency braking, adaptive cruise control, collision avoidance systems</a:t>
            </a:r>
            <a:endParaRPr sz="1400">
              <a:solidFill>
                <a:schemeClr val="hlink"/>
              </a:solidFill>
            </a:endParaRPr>
          </a:p>
          <a:p>
            <a:pPr indent="-317500" lvl="0" marL="457200" rtl="0" algn="l">
              <a:lnSpc>
                <a:spcPct val="200000"/>
              </a:lnSpc>
              <a:spcBef>
                <a:spcPts val="0"/>
              </a:spcBef>
              <a:spcAft>
                <a:spcPts val="0"/>
              </a:spcAft>
              <a:buClr>
                <a:schemeClr val="hlink"/>
              </a:buClr>
              <a:buSzPts val="1400"/>
              <a:buChar char="●"/>
            </a:pPr>
            <a:r>
              <a:rPr lang="en" sz="1400">
                <a:solidFill>
                  <a:schemeClr val="hlink"/>
                </a:solidFill>
              </a:rPr>
              <a:t>Self-driving cars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Description</a:t>
            </a:r>
            <a:endParaRPr/>
          </a:p>
        </p:txBody>
      </p:sp>
      <p:sp>
        <p:nvSpPr>
          <p:cNvPr id="283" name="Google Shape;28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SzPts val="1400"/>
              <a:buChar char="●"/>
            </a:pPr>
            <a:r>
              <a:rPr b="1" lang="en" sz="1400"/>
              <a:t>Source</a:t>
            </a:r>
            <a:r>
              <a:rPr lang="en" sz="1400"/>
              <a:t>: "Traffic Detection Project" on Kaggle</a:t>
            </a:r>
            <a:endParaRPr sz="1400"/>
          </a:p>
          <a:p>
            <a:pPr indent="-317500" lvl="0" marL="457200" rtl="0" algn="l">
              <a:lnSpc>
                <a:spcPct val="200000"/>
              </a:lnSpc>
              <a:spcBef>
                <a:spcPts val="0"/>
              </a:spcBef>
              <a:spcAft>
                <a:spcPts val="0"/>
              </a:spcAft>
              <a:buSzPts val="1400"/>
              <a:buChar char="●"/>
            </a:pPr>
            <a:r>
              <a:rPr b="1" lang="en" sz="1400"/>
              <a:t>Dataset</a:t>
            </a:r>
            <a:r>
              <a:rPr lang="en" sz="1400"/>
              <a:t>: </a:t>
            </a:r>
            <a:endParaRPr sz="1400"/>
          </a:p>
          <a:p>
            <a:pPr indent="-317500" lvl="1" marL="914400" rtl="0" algn="l">
              <a:lnSpc>
                <a:spcPct val="200000"/>
              </a:lnSpc>
              <a:spcBef>
                <a:spcPts val="0"/>
              </a:spcBef>
              <a:spcAft>
                <a:spcPts val="0"/>
              </a:spcAft>
              <a:buSzPts val="1400"/>
              <a:buChar char="○"/>
            </a:pPr>
            <a:r>
              <a:rPr lang="en" sz="1400"/>
              <a:t>Train: 5805 image and label files </a:t>
            </a:r>
            <a:endParaRPr sz="1400"/>
          </a:p>
          <a:p>
            <a:pPr indent="-317500" lvl="1" marL="914400" rtl="0" algn="l">
              <a:lnSpc>
                <a:spcPct val="200000"/>
              </a:lnSpc>
              <a:spcBef>
                <a:spcPts val="0"/>
              </a:spcBef>
              <a:spcAft>
                <a:spcPts val="0"/>
              </a:spcAft>
              <a:buSzPts val="1400"/>
              <a:buChar char="○"/>
            </a:pPr>
            <a:r>
              <a:rPr lang="en" sz="1400"/>
              <a:t>Valid: 549 </a:t>
            </a:r>
            <a:r>
              <a:rPr lang="en" sz="1400"/>
              <a:t>image and label files</a:t>
            </a:r>
            <a:endParaRPr sz="1400"/>
          </a:p>
          <a:p>
            <a:pPr indent="-317500" lvl="1" marL="914400" rtl="0" algn="l">
              <a:lnSpc>
                <a:spcPct val="200000"/>
              </a:lnSpc>
              <a:spcBef>
                <a:spcPts val="0"/>
              </a:spcBef>
              <a:spcAft>
                <a:spcPts val="0"/>
              </a:spcAft>
              <a:buSzPts val="1400"/>
              <a:buChar char="○"/>
            </a:pPr>
            <a:r>
              <a:rPr lang="en" sz="1400"/>
              <a:t>Test:  279 image and label files</a:t>
            </a:r>
            <a:endParaRPr sz="1400"/>
          </a:p>
          <a:p>
            <a:pPr indent="0" lvl="0" marL="457200" rtl="0" algn="l">
              <a:lnSpc>
                <a:spcPct val="200000"/>
              </a:lnSpc>
              <a:spcBef>
                <a:spcPts val="1200"/>
              </a:spcBef>
              <a:spcAft>
                <a:spcPts val="0"/>
              </a:spcAft>
              <a:buNone/>
            </a:pPr>
            <a:r>
              <a:t/>
            </a:r>
            <a:endParaRPr sz="1400"/>
          </a:p>
          <a:p>
            <a:pPr indent="0" lvl="0" marL="0" rtl="0" algn="l">
              <a:spcBef>
                <a:spcPts val="1200"/>
              </a:spcBef>
              <a:spcAft>
                <a:spcPts val="1200"/>
              </a:spcAft>
              <a:buNone/>
            </a:pPr>
            <a:r>
              <a:t/>
            </a:r>
            <a:endParaRPr sz="1400"/>
          </a:p>
        </p:txBody>
      </p:sp>
      <p:pic>
        <p:nvPicPr>
          <p:cNvPr id="284" name="Google Shape;284;p47" title="Chart"/>
          <p:cNvPicPr preferRelativeResize="0"/>
          <p:nvPr/>
        </p:nvPicPr>
        <p:blipFill>
          <a:blip r:embed="rId3">
            <a:alphaModFix/>
          </a:blip>
          <a:stretch>
            <a:fillRect/>
          </a:stretch>
        </p:blipFill>
        <p:spPr>
          <a:xfrm>
            <a:off x="4572000" y="2316495"/>
            <a:ext cx="4572000" cy="28270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Description</a:t>
            </a:r>
            <a:endParaRPr/>
          </a:p>
        </p:txBody>
      </p:sp>
      <p:sp>
        <p:nvSpPr>
          <p:cNvPr id="290" name="Google Shape;290;p48"/>
          <p:cNvSpPr txBox="1"/>
          <p:nvPr>
            <p:ph idx="4294967295" type="body"/>
          </p:nvPr>
        </p:nvSpPr>
        <p:spPr>
          <a:xfrm>
            <a:off x="311700" y="1389600"/>
            <a:ext cx="3196500" cy="3179400"/>
          </a:xfrm>
          <a:prstGeom prst="rect">
            <a:avLst/>
          </a:prstGeom>
        </p:spPr>
        <p:txBody>
          <a:bodyPr anchorCtr="0" anchor="t" bIns="91425" lIns="91425" spcFirstLastPara="1" rIns="91425" wrap="square" tIns="91425">
            <a:noAutofit/>
          </a:bodyPr>
          <a:lstStyle/>
          <a:p>
            <a:pPr indent="-320040" lvl="0" marL="457200" rtl="0" algn="l">
              <a:lnSpc>
                <a:spcPct val="180000"/>
              </a:lnSpc>
              <a:spcBef>
                <a:spcPts val="0"/>
              </a:spcBef>
              <a:spcAft>
                <a:spcPts val="0"/>
              </a:spcAft>
              <a:buSzPts val="1440"/>
              <a:buChar char="●"/>
            </a:pPr>
            <a:r>
              <a:rPr b="1" lang="en" sz="1440"/>
              <a:t>Identify Objects</a:t>
            </a:r>
            <a:endParaRPr b="1" sz="1440"/>
          </a:p>
          <a:p>
            <a:pPr indent="-320040" lvl="1" marL="914400" rtl="0" algn="l">
              <a:lnSpc>
                <a:spcPct val="180000"/>
              </a:lnSpc>
              <a:spcBef>
                <a:spcPts val="0"/>
              </a:spcBef>
              <a:spcAft>
                <a:spcPts val="0"/>
              </a:spcAft>
              <a:buSzPts val="1440"/>
              <a:buChar char="○"/>
            </a:pPr>
            <a:r>
              <a:rPr lang="en" sz="1440"/>
              <a:t>Bicycle, Bus, Car, Motorbike, Person</a:t>
            </a:r>
            <a:endParaRPr sz="1440"/>
          </a:p>
          <a:p>
            <a:pPr indent="0" lvl="0" marL="0" rtl="0" algn="l">
              <a:lnSpc>
                <a:spcPct val="180000"/>
              </a:lnSpc>
              <a:spcBef>
                <a:spcPts val="1200"/>
              </a:spcBef>
              <a:spcAft>
                <a:spcPts val="0"/>
              </a:spcAft>
              <a:buSzPts val="852"/>
              <a:buNone/>
            </a:pPr>
            <a:r>
              <a:t/>
            </a:r>
            <a:endParaRPr sz="1440"/>
          </a:p>
          <a:p>
            <a:pPr indent="-320040" lvl="0" marL="457200" rtl="0" algn="l">
              <a:lnSpc>
                <a:spcPct val="180000"/>
              </a:lnSpc>
              <a:spcBef>
                <a:spcPts val="1200"/>
              </a:spcBef>
              <a:spcAft>
                <a:spcPts val="0"/>
              </a:spcAft>
              <a:buSzPts val="1440"/>
              <a:buChar char="●"/>
            </a:pPr>
            <a:r>
              <a:rPr b="1" lang="en" sz="1440"/>
              <a:t>Environmental Conditions</a:t>
            </a:r>
            <a:r>
              <a:rPr lang="en" sz="1440"/>
              <a:t>:</a:t>
            </a:r>
            <a:endParaRPr sz="1440"/>
          </a:p>
          <a:p>
            <a:pPr indent="-320040" lvl="1" marL="914400" rtl="0" algn="l">
              <a:lnSpc>
                <a:spcPct val="180000"/>
              </a:lnSpc>
              <a:spcBef>
                <a:spcPts val="0"/>
              </a:spcBef>
              <a:spcAft>
                <a:spcPts val="0"/>
              </a:spcAft>
              <a:buSzPts val="1440"/>
              <a:buChar char="○"/>
            </a:pPr>
            <a:r>
              <a:rPr lang="en" sz="1440"/>
              <a:t>Weather, Lighting, and Traffic density</a:t>
            </a:r>
            <a:endParaRPr sz="1440"/>
          </a:p>
          <a:p>
            <a:pPr indent="0" lvl="0" marL="0" rtl="0" algn="l">
              <a:lnSpc>
                <a:spcPct val="95000"/>
              </a:lnSpc>
              <a:spcBef>
                <a:spcPts val="1200"/>
              </a:spcBef>
              <a:spcAft>
                <a:spcPts val="1200"/>
              </a:spcAft>
              <a:buSzPts val="852"/>
              <a:buNone/>
            </a:pPr>
            <a:r>
              <a:t/>
            </a:r>
            <a:endParaRPr sz="1085"/>
          </a:p>
        </p:txBody>
      </p:sp>
      <p:pic>
        <p:nvPicPr>
          <p:cNvPr id="291" name="Google Shape;291;p48"/>
          <p:cNvPicPr preferRelativeResize="0"/>
          <p:nvPr/>
        </p:nvPicPr>
        <p:blipFill>
          <a:blip r:embed="rId3">
            <a:alphaModFix/>
          </a:blip>
          <a:stretch>
            <a:fillRect/>
          </a:stretch>
        </p:blipFill>
        <p:spPr>
          <a:xfrm>
            <a:off x="3568275" y="1351495"/>
            <a:ext cx="752950" cy="752950"/>
          </a:xfrm>
          <a:prstGeom prst="rect">
            <a:avLst/>
          </a:prstGeom>
          <a:noFill/>
          <a:ln>
            <a:noFill/>
          </a:ln>
        </p:spPr>
      </p:pic>
      <p:pic>
        <p:nvPicPr>
          <p:cNvPr id="292" name="Google Shape;292;p48"/>
          <p:cNvPicPr preferRelativeResize="0"/>
          <p:nvPr/>
        </p:nvPicPr>
        <p:blipFill>
          <a:blip r:embed="rId4">
            <a:alphaModFix/>
          </a:blip>
          <a:stretch>
            <a:fillRect/>
          </a:stretch>
        </p:blipFill>
        <p:spPr>
          <a:xfrm>
            <a:off x="3642600" y="3347726"/>
            <a:ext cx="604300" cy="604300"/>
          </a:xfrm>
          <a:prstGeom prst="rect">
            <a:avLst/>
          </a:prstGeom>
          <a:noFill/>
          <a:ln>
            <a:noFill/>
          </a:ln>
        </p:spPr>
      </p:pic>
      <p:pic>
        <p:nvPicPr>
          <p:cNvPr id="293" name="Google Shape;293;p48"/>
          <p:cNvPicPr preferRelativeResize="0"/>
          <p:nvPr/>
        </p:nvPicPr>
        <p:blipFill>
          <a:blip r:embed="rId5">
            <a:alphaModFix/>
          </a:blip>
          <a:stretch>
            <a:fillRect/>
          </a:stretch>
        </p:blipFill>
        <p:spPr>
          <a:xfrm>
            <a:off x="5088700" y="1084525"/>
            <a:ext cx="2027650" cy="2027650"/>
          </a:xfrm>
          <a:prstGeom prst="rect">
            <a:avLst/>
          </a:prstGeom>
          <a:noFill/>
          <a:ln>
            <a:noFill/>
          </a:ln>
        </p:spPr>
      </p:pic>
      <p:pic>
        <p:nvPicPr>
          <p:cNvPr id="294" name="Google Shape;294;p48"/>
          <p:cNvPicPr preferRelativeResize="0"/>
          <p:nvPr/>
        </p:nvPicPr>
        <p:blipFill>
          <a:blip r:embed="rId6">
            <a:alphaModFix/>
          </a:blip>
          <a:stretch>
            <a:fillRect/>
          </a:stretch>
        </p:blipFill>
        <p:spPr>
          <a:xfrm>
            <a:off x="7116350" y="1084525"/>
            <a:ext cx="2027650" cy="2027650"/>
          </a:xfrm>
          <a:prstGeom prst="rect">
            <a:avLst/>
          </a:prstGeom>
          <a:noFill/>
          <a:ln>
            <a:noFill/>
          </a:ln>
        </p:spPr>
      </p:pic>
      <p:pic>
        <p:nvPicPr>
          <p:cNvPr id="295" name="Google Shape;295;p48"/>
          <p:cNvPicPr preferRelativeResize="0"/>
          <p:nvPr/>
        </p:nvPicPr>
        <p:blipFill>
          <a:blip r:embed="rId7">
            <a:alphaModFix/>
          </a:blip>
          <a:stretch>
            <a:fillRect/>
          </a:stretch>
        </p:blipFill>
        <p:spPr>
          <a:xfrm>
            <a:off x="5085025" y="3112175"/>
            <a:ext cx="2031325" cy="2031325"/>
          </a:xfrm>
          <a:prstGeom prst="rect">
            <a:avLst/>
          </a:prstGeom>
          <a:noFill/>
          <a:ln>
            <a:noFill/>
          </a:ln>
        </p:spPr>
      </p:pic>
      <p:pic>
        <p:nvPicPr>
          <p:cNvPr id="296" name="Google Shape;296;p48"/>
          <p:cNvPicPr preferRelativeResize="0"/>
          <p:nvPr/>
        </p:nvPicPr>
        <p:blipFill>
          <a:blip r:embed="rId8">
            <a:alphaModFix/>
          </a:blip>
          <a:stretch>
            <a:fillRect/>
          </a:stretch>
        </p:blipFill>
        <p:spPr>
          <a:xfrm>
            <a:off x="7116350" y="3112175"/>
            <a:ext cx="2031325" cy="2031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Methods</a:t>
            </a:r>
            <a:endParaRPr/>
          </a:p>
        </p:txBody>
      </p:sp>
      <p:sp>
        <p:nvSpPr>
          <p:cNvPr id="302" name="Google Shape;30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lnSpc>
                <a:spcPct val="200000"/>
              </a:lnSpc>
              <a:spcBef>
                <a:spcPts val="0"/>
              </a:spcBef>
              <a:spcAft>
                <a:spcPts val="0"/>
              </a:spcAft>
              <a:buSzPts val="1600"/>
              <a:buChar char="●"/>
            </a:pPr>
            <a:r>
              <a:rPr b="1" lang="en" sz="1600"/>
              <a:t>YOLOv5</a:t>
            </a:r>
            <a:endParaRPr b="1" sz="1600"/>
          </a:p>
          <a:p>
            <a:pPr indent="-317500" lvl="1" marL="914400" rtl="0" algn="l">
              <a:lnSpc>
                <a:spcPct val="200000"/>
              </a:lnSpc>
              <a:spcBef>
                <a:spcPts val="0"/>
              </a:spcBef>
              <a:spcAft>
                <a:spcPts val="0"/>
              </a:spcAft>
              <a:buSzPts val="1400"/>
              <a:buChar char="○"/>
            </a:pPr>
            <a:r>
              <a:rPr lang="en" sz="1400"/>
              <a:t>You Only Look Once (YOLO) family of computer vision models</a:t>
            </a:r>
            <a:endParaRPr sz="1400"/>
          </a:p>
          <a:p>
            <a:pPr indent="-317500" lvl="1" marL="914400" rtl="0" algn="l">
              <a:lnSpc>
                <a:spcPct val="200000"/>
              </a:lnSpc>
              <a:spcBef>
                <a:spcPts val="0"/>
              </a:spcBef>
              <a:spcAft>
                <a:spcPts val="0"/>
              </a:spcAft>
              <a:buSzPts val="1400"/>
              <a:buChar char="○"/>
            </a:pPr>
            <a:r>
              <a:rPr lang="en" sz="1400"/>
              <a:t>Commonly used for detecting objects</a:t>
            </a:r>
            <a:endParaRPr sz="1400"/>
          </a:p>
          <a:p>
            <a:pPr indent="-317500" lvl="1" marL="914400" rtl="0" algn="l">
              <a:lnSpc>
                <a:spcPct val="200000"/>
              </a:lnSpc>
              <a:spcBef>
                <a:spcPts val="0"/>
              </a:spcBef>
              <a:spcAft>
                <a:spcPts val="0"/>
              </a:spcAft>
              <a:buSzPts val="1400"/>
              <a:buChar char="○"/>
            </a:pPr>
            <a:r>
              <a:rPr lang="en" sz="1400"/>
              <a:t>Four main versions: </a:t>
            </a:r>
            <a:endParaRPr sz="1400"/>
          </a:p>
          <a:p>
            <a:pPr indent="-317500" lvl="2" marL="1371600" rtl="0" algn="l">
              <a:lnSpc>
                <a:spcPct val="200000"/>
              </a:lnSpc>
              <a:spcBef>
                <a:spcPts val="0"/>
              </a:spcBef>
              <a:spcAft>
                <a:spcPts val="0"/>
              </a:spcAft>
              <a:buSzPts val="1400"/>
              <a:buChar char="■"/>
            </a:pPr>
            <a:r>
              <a:rPr lang="en" sz="1400"/>
              <a:t>small (s)</a:t>
            </a:r>
            <a:endParaRPr sz="1400"/>
          </a:p>
          <a:p>
            <a:pPr indent="-317500" lvl="2" marL="1371600" rtl="0" algn="l">
              <a:lnSpc>
                <a:spcPct val="200000"/>
              </a:lnSpc>
              <a:spcBef>
                <a:spcPts val="0"/>
              </a:spcBef>
              <a:spcAft>
                <a:spcPts val="0"/>
              </a:spcAft>
              <a:buSzPts val="1400"/>
              <a:buChar char="■"/>
            </a:pPr>
            <a:r>
              <a:rPr lang="en" sz="1400"/>
              <a:t>medium (m)</a:t>
            </a:r>
            <a:endParaRPr sz="1400"/>
          </a:p>
          <a:p>
            <a:pPr indent="-317500" lvl="2" marL="1371600" rtl="0" algn="l">
              <a:lnSpc>
                <a:spcPct val="200000"/>
              </a:lnSpc>
              <a:spcBef>
                <a:spcPts val="0"/>
              </a:spcBef>
              <a:spcAft>
                <a:spcPts val="0"/>
              </a:spcAft>
              <a:buSzPts val="1400"/>
              <a:buChar char="■"/>
            </a:pPr>
            <a:r>
              <a:rPr lang="en" sz="1400"/>
              <a:t>large (l</a:t>
            </a:r>
            <a:r>
              <a:rPr lang="en" sz="1400"/>
              <a:t>)</a:t>
            </a:r>
            <a:endParaRPr sz="1400"/>
          </a:p>
          <a:p>
            <a:pPr indent="-317500" lvl="2" marL="1371600" rtl="0" algn="l">
              <a:lnSpc>
                <a:spcPct val="200000"/>
              </a:lnSpc>
              <a:spcBef>
                <a:spcPts val="0"/>
              </a:spcBef>
              <a:spcAft>
                <a:spcPts val="0"/>
              </a:spcAft>
              <a:buSzPts val="1400"/>
              <a:buChar char="■"/>
            </a:pPr>
            <a:r>
              <a:rPr lang="en" sz="1400"/>
              <a:t>extra large (x)</a:t>
            </a:r>
            <a:endParaRPr sz="1400"/>
          </a:p>
        </p:txBody>
      </p:sp>
      <p:pic>
        <p:nvPicPr>
          <p:cNvPr id="303" name="Google Shape;303;p49"/>
          <p:cNvPicPr preferRelativeResize="0"/>
          <p:nvPr/>
        </p:nvPicPr>
        <p:blipFill>
          <a:blip r:embed="rId3">
            <a:alphaModFix/>
          </a:blip>
          <a:stretch>
            <a:fillRect/>
          </a:stretch>
        </p:blipFill>
        <p:spPr>
          <a:xfrm>
            <a:off x="4572000" y="2840227"/>
            <a:ext cx="4572001" cy="2303273"/>
          </a:xfrm>
          <a:prstGeom prst="rect">
            <a:avLst/>
          </a:prstGeom>
          <a:noFill/>
          <a:ln>
            <a:noFill/>
          </a:ln>
        </p:spPr>
      </p:pic>
      <p:pic>
        <p:nvPicPr>
          <p:cNvPr id="304" name="Google Shape;304;p49"/>
          <p:cNvPicPr preferRelativeResize="0"/>
          <p:nvPr/>
        </p:nvPicPr>
        <p:blipFill rotWithShape="1">
          <a:blip r:embed="rId4">
            <a:alphaModFix/>
          </a:blip>
          <a:srcRect b="30150" l="0" r="0" t="30702"/>
          <a:stretch/>
        </p:blipFill>
        <p:spPr>
          <a:xfrm>
            <a:off x="6725750" y="1893525"/>
            <a:ext cx="2418250" cy="946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YOLOv5 Versions Comparison</a:t>
            </a:r>
            <a:endParaRPr/>
          </a:p>
        </p:txBody>
      </p:sp>
      <p:sp>
        <p:nvSpPr>
          <p:cNvPr id="310" name="Google Shape;31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1200"/>
              </a:spcAft>
              <a:buNone/>
            </a:pPr>
            <a:r>
              <a:t/>
            </a:r>
            <a:endParaRPr sz="1400"/>
          </a:p>
        </p:txBody>
      </p:sp>
      <p:pic>
        <p:nvPicPr>
          <p:cNvPr id="311" name="Google Shape;311;p50"/>
          <p:cNvPicPr preferRelativeResize="0"/>
          <p:nvPr/>
        </p:nvPicPr>
        <p:blipFill>
          <a:blip r:embed="rId3">
            <a:alphaModFix/>
          </a:blip>
          <a:stretch>
            <a:fillRect/>
          </a:stretch>
        </p:blipFill>
        <p:spPr>
          <a:xfrm>
            <a:off x="4674650" y="1840325"/>
            <a:ext cx="4157650" cy="2085350"/>
          </a:xfrm>
          <a:prstGeom prst="rect">
            <a:avLst/>
          </a:prstGeom>
          <a:noFill/>
          <a:ln>
            <a:noFill/>
          </a:ln>
        </p:spPr>
      </p:pic>
      <p:graphicFrame>
        <p:nvGraphicFramePr>
          <p:cNvPr id="312" name="Google Shape;312;p50"/>
          <p:cNvGraphicFramePr/>
          <p:nvPr/>
        </p:nvGraphicFramePr>
        <p:xfrm>
          <a:off x="311700" y="1699613"/>
          <a:ext cx="3000000" cy="3000000"/>
        </p:xfrm>
        <a:graphic>
          <a:graphicData uri="http://schemas.openxmlformats.org/drawingml/2006/table">
            <a:tbl>
              <a:tblPr>
                <a:noFill/>
                <a:tableStyleId>{52F9A3FF-2DAB-4B3C-BBC3-51902FD43E3B}</a:tableStyleId>
              </a:tblPr>
              <a:tblGrid>
                <a:gridCol w="786050"/>
                <a:gridCol w="728375"/>
                <a:gridCol w="763000"/>
                <a:gridCol w="1035400"/>
                <a:gridCol w="947500"/>
              </a:tblGrid>
              <a:tr h="473350">
                <a:tc>
                  <a:txBody>
                    <a:bodyPr/>
                    <a:lstStyle/>
                    <a:p>
                      <a:pPr indent="0" lvl="0" marL="0" rtl="0" algn="ctr">
                        <a:lnSpc>
                          <a:spcPct val="115000"/>
                        </a:lnSpc>
                        <a:spcBef>
                          <a:spcPts val="0"/>
                        </a:spcBef>
                        <a:spcAft>
                          <a:spcPts val="0"/>
                        </a:spcAft>
                        <a:buNone/>
                      </a:pPr>
                      <a:r>
                        <a:rPr b="1" lang="en" sz="1200">
                          <a:latin typeface="DM Sans"/>
                          <a:ea typeface="DM Sans"/>
                          <a:cs typeface="DM Sans"/>
                          <a:sym typeface="DM Sans"/>
                        </a:rPr>
                        <a:t>Model</a:t>
                      </a:r>
                      <a:endParaRPr b="1"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1200">
                          <a:latin typeface="DM Sans"/>
                          <a:ea typeface="DM Sans"/>
                          <a:cs typeface="DM Sans"/>
                          <a:sym typeface="DM Sans"/>
                        </a:rPr>
                        <a:t>Size</a:t>
                      </a:r>
                      <a:endParaRPr b="1"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1200">
                          <a:latin typeface="DM Sans"/>
                          <a:ea typeface="DM Sans"/>
                          <a:cs typeface="DM Sans"/>
                          <a:sym typeface="DM Sans"/>
                        </a:rPr>
                        <a:t>Speed (FPS)</a:t>
                      </a:r>
                      <a:endParaRPr b="1"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1200">
                          <a:latin typeface="DM Sans"/>
                          <a:ea typeface="DM Sans"/>
                          <a:cs typeface="DM Sans"/>
                          <a:sym typeface="DM Sans"/>
                        </a:rPr>
                        <a:t>Accuracy (mAP)</a:t>
                      </a:r>
                      <a:endParaRPr b="1"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1200">
                          <a:latin typeface="DM Sans"/>
                          <a:ea typeface="DM Sans"/>
                          <a:cs typeface="DM Sans"/>
                          <a:sym typeface="DM Sans"/>
                        </a:rPr>
                        <a:t>Parameters</a:t>
                      </a:r>
                      <a:endParaRPr b="1"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r>
              <a:tr h="473350">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YOLOv5s</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Small</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Fastest</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Lowest</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~7M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473350">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YOLOv5m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Medium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Faster</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Higher than YOLOv5s</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~21M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473350">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YOLOv5l</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Large</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Slower</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Higher than YOLOv5m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~46M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473350">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YOLOv5x</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Extra Large</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Slowest</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Highest</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DM Sans"/>
                          <a:ea typeface="DM Sans"/>
                          <a:cs typeface="DM Sans"/>
                          <a:sym typeface="DM Sans"/>
                        </a:rPr>
                        <a:t>~87M</a:t>
                      </a:r>
                      <a:endParaRPr sz="12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hlink"/>
              </a:buClr>
              <a:buSzPct val="31884"/>
              <a:buFont typeface="Arial"/>
              <a:buNone/>
            </a:pPr>
            <a:r>
              <a:rPr lang="en"/>
              <a:t>Overview of the YOLOv5 Architecture</a:t>
            </a:r>
            <a:endParaRPr/>
          </a:p>
          <a:p>
            <a:pPr indent="0" lvl="0" marL="0" rtl="0" algn="l">
              <a:spcBef>
                <a:spcPts val="0"/>
              </a:spcBef>
              <a:spcAft>
                <a:spcPts val="0"/>
              </a:spcAft>
              <a:buClr>
                <a:schemeClr val="hlink"/>
              </a:buClr>
              <a:buSzPct val="31884"/>
              <a:buFont typeface="Arial"/>
              <a:buNone/>
            </a:pPr>
            <a:r>
              <a:t/>
            </a:r>
            <a:endParaRPr/>
          </a:p>
          <a:p>
            <a:pPr indent="0" lvl="0" marL="0" rtl="0" algn="l">
              <a:spcBef>
                <a:spcPts val="0"/>
              </a:spcBef>
              <a:spcAft>
                <a:spcPts val="0"/>
              </a:spcAft>
              <a:buNone/>
            </a:pPr>
            <a:r>
              <a:t/>
            </a:r>
            <a:endParaRPr/>
          </a:p>
        </p:txBody>
      </p:sp>
      <p:sp>
        <p:nvSpPr>
          <p:cNvPr id="318" name="Google Shape;31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SzPts val="1400"/>
              <a:buChar char="●"/>
            </a:pPr>
            <a:r>
              <a:rPr b="1" lang="en" sz="1400"/>
              <a:t>Backbone </a:t>
            </a:r>
            <a:r>
              <a:rPr lang="en" sz="1400"/>
              <a:t>(Feature Extractor)</a:t>
            </a:r>
            <a:endParaRPr sz="1400"/>
          </a:p>
          <a:p>
            <a:pPr indent="-317500" lvl="1" marL="914400" rtl="0" algn="l">
              <a:lnSpc>
                <a:spcPct val="200000"/>
              </a:lnSpc>
              <a:spcBef>
                <a:spcPts val="0"/>
              </a:spcBef>
              <a:spcAft>
                <a:spcPts val="0"/>
              </a:spcAft>
              <a:buSzPts val="1400"/>
              <a:buChar char="○"/>
            </a:pPr>
            <a:r>
              <a:rPr lang="en" sz="1400"/>
              <a:t>Feature extraction</a:t>
            </a:r>
            <a:endParaRPr sz="1400"/>
          </a:p>
          <a:p>
            <a:pPr indent="-317500" lvl="0" marL="457200" rtl="0" algn="l">
              <a:lnSpc>
                <a:spcPct val="200000"/>
              </a:lnSpc>
              <a:spcBef>
                <a:spcPts val="0"/>
              </a:spcBef>
              <a:spcAft>
                <a:spcPts val="0"/>
              </a:spcAft>
              <a:buSzPts val="1400"/>
              <a:buChar char="●"/>
            </a:pPr>
            <a:r>
              <a:rPr b="1" lang="en" sz="1400"/>
              <a:t>Neck </a:t>
            </a:r>
            <a:r>
              <a:rPr lang="en" sz="1400"/>
              <a:t>(Feature Fusion)</a:t>
            </a:r>
            <a:endParaRPr sz="1400"/>
          </a:p>
          <a:p>
            <a:pPr indent="-317500" lvl="1" marL="914400" rtl="0" algn="l">
              <a:lnSpc>
                <a:spcPct val="200000"/>
              </a:lnSpc>
              <a:spcBef>
                <a:spcPts val="0"/>
              </a:spcBef>
              <a:spcAft>
                <a:spcPts val="0"/>
              </a:spcAft>
              <a:buSzPts val="1400"/>
              <a:buChar char="○"/>
            </a:pPr>
            <a:r>
              <a:rPr lang="en" sz="1400"/>
              <a:t>Generate three feature maps P3, P4, and P5</a:t>
            </a:r>
            <a:endParaRPr sz="1400"/>
          </a:p>
          <a:p>
            <a:pPr indent="-317500" lvl="0" marL="457200" rtl="0" algn="l">
              <a:lnSpc>
                <a:spcPct val="200000"/>
              </a:lnSpc>
              <a:spcBef>
                <a:spcPts val="0"/>
              </a:spcBef>
              <a:spcAft>
                <a:spcPts val="0"/>
              </a:spcAft>
              <a:buSzPts val="1400"/>
              <a:buChar char="●"/>
            </a:pPr>
            <a:r>
              <a:rPr b="1" lang="en" sz="1400"/>
              <a:t>Head </a:t>
            </a:r>
            <a:r>
              <a:rPr lang="en" sz="1400"/>
              <a:t>(Prediction)</a:t>
            </a:r>
            <a:endParaRPr sz="1400"/>
          </a:p>
          <a:p>
            <a:pPr indent="-317500" lvl="1" marL="914400" rtl="0" algn="l">
              <a:lnSpc>
                <a:spcPct val="200000"/>
              </a:lnSpc>
              <a:spcBef>
                <a:spcPts val="0"/>
              </a:spcBef>
              <a:spcAft>
                <a:spcPts val="0"/>
              </a:spcAft>
              <a:buSzPts val="1400"/>
              <a:buChar char="○"/>
            </a:pPr>
            <a:r>
              <a:rPr lang="en" sz="1400"/>
              <a:t>Object Classification</a:t>
            </a:r>
            <a:endParaRPr sz="1400"/>
          </a:p>
          <a:p>
            <a:pPr indent="-317500" lvl="1" marL="914400" rtl="0" algn="l">
              <a:lnSpc>
                <a:spcPct val="200000"/>
              </a:lnSpc>
              <a:spcBef>
                <a:spcPts val="0"/>
              </a:spcBef>
              <a:spcAft>
                <a:spcPts val="0"/>
              </a:spcAft>
              <a:buSzPts val="1400"/>
              <a:buChar char="○"/>
            </a:pPr>
            <a:r>
              <a:rPr lang="en" sz="1400"/>
              <a:t>Confidence Scores</a:t>
            </a:r>
            <a:endParaRPr sz="1400"/>
          </a:p>
          <a:p>
            <a:pPr indent="-317500" lvl="1" marL="914400" rtl="0" algn="l">
              <a:lnSpc>
                <a:spcPct val="200000"/>
              </a:lnSpc>
              <a:spcBef>
                <a:spcPts val="0"/>
              </a:spcBef>
              <a:spcAft>
                <a:spcPts val="0"/>
              </a:spcAft>
              <a:buSzPts val="1400"/>
              <a:buChar char="○"/>
            </a:pPr>
            <a:r>
              <a:rPr lang="en" sz="1400"/>
              <a:t>Bounding Box Regression</a:t>
            </a:r>
            <a:endParaRPr sz="1400"/>
          </a:p>
        </p:txBody>
      </p:sp>
      <p:pic>
        <p:nvPicPr>
          <p:cNvPr id="319" name="Google Shape;319;p51"/>
          <p:cNvPicPr preferRelativeResize="0"/>
          <p:nvPr/>
        </p:nvPicPr>
        <p:blipFill rotWithShape="1">
          <a:blip r:embed="rId3">
            <a:alphaModFix/>
          </a:blip>
          <a:srcRect b="0" l="3185" r="0" t="0"/>
          <a:stretch/>
        </p:blipFill>
        <p:spPr>
          <a:xfrm>
            <a:off x="3955775" y="2982850"/>
            <a:ext cx="5188226" cy="216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a:t>
            </a:r>
            <a:endParaRPr/>
          </a:p>
        </p:txBody>
      </p:sp>
      <p:sp>
        <p:nvSpPr>
          <p:cNvPr id="325" name="Google Shape;325;p52"/>
          <p:cNvSpPr txBox="1"/>
          <p:nvPr>
            <p:ph idx="1" type="body"/>
          </p:nvPr>
        </p:nvSpPr>
        <p:spPr>
          <a:xfrm>
            <a:off x="311700" y="1152475"/>
            <a:ext cx="8520600" cy="3700200"/>
          </a:xfrm>
          <a:prstGeom prst="rect">
            <a:avLst/>
          </a:prstGeom>
        </p:spPr>
        <p:txBody>
          <a:bodyPr anchorCtr="0" anchor="t" bIns="91425" lIns="91425" spcFirstLastPara="1" rIns="91425" wrap="square" tIns="91425">
            <a:noAutofit/>
          </a:bodyPr>
          <a:lstStyle/>
          <a:p>
            <a:pPr indent="-329079" lvl="0" marL="457200" rtl="0" algn="l">
              <a:lnSpc>
                <a:spcPct val="180000"/>
              </a:lnSpc>
              <a:spcBef>
                <a:spcPts val="0"/>
              </a:spcBef>
              <a:spcAft>
                <a:spcPts val="0"/>
              </a:spcAft>
              <a:buClr>
                <a:schemeClr val="hlink"/>
              </a:buClr>
              <a:buSzPts val="1582"/>
              <a:buChar char="●"/>
            </a:pPr>
            <a:r>
              <a:rPr lang="en" sz="1582">
                <a:solidFill>
                  <a:schemeClr val="hlink"/>
                </a:solidFill>
              </a:rPr>
              <a:t>Reduced training set to 1935 images, validation set to 183 images</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Test set remained untouched</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Used even smaller version for the weights - yolo5n</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Resized images from 640x640 to 416x416</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Reduced batch size to 8</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Reduced the number of epochs from 50 to 20</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Training the dataset took approximately 3 hours</a:t>
            </a:r>
            <a:endParaRPr sz="1582">
              <a:solidFill>
                <a:schemeClr val="hlink"/>
              </a:solidFill>
            </a:endParaRPr>
          </a:p>
          <a:p>
            <a:pPr indent="-329079" lvl="0" marL="457200" rtl="0" algn="l">
              <a:lnSpc>
                <a:spcPct val="180000"/>
              </a:lnSpc>
              <a:spcBef>
                <a:spcPts val="0"/>
              </a:spcBef>
              <a:spcAft>
                <a:spcPts val="0"/>
              </a:spcAft>
              <a:buClr>
                <a:schemeClr val="hlink"/>
              </a:buClr>
              <a:buSzPts val="1582"/>
              <a:buChar char="●"/>
            </a:pPr>
            <a:r>
              <a:rPr lang="en" sz="1582">
                <a:solidFill>
                  <a:schemeClr val="hlink"/>
                </a:solidFill>
              </a:rPr>
              <a:t>Results were saved to csv file created automatically by model</a:t>
            </a:r>
            <a:endParaRPr sz="1582">
              <a:solidFill>
                <a:schemeClr val="hlink"/>
              </a:solidFill>
            </a:endParaRPr>
          </a:p>
          <a:p>
            <a:pPr indent="0" lvl="0" marL="0" rtl="0" algn="l">
              <a:lnSpc>
                <a:spcPct val="95000"/>
              </a:lnSpc>
              <a:spcBef>
                <a:spcPts val="0"/>
              </a:spcBef>
              <a:spcAft>
                <a:spcPts val="1200"/>
              </a:spcAft>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331" name="Google Shape;331;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lnSpc>
                <a:spcPct val="200000"/>
              </a:lnSpc>
              <a:spcBef>
                <a:spcPts val="0"/>
              </a:spcBef>
              <a:spcAft>
                <a:spcPts val="0"/>
              </a:spcAft>
              <a:buClr>
                <a:schemeClr val="hlink"/>
              </a:buClr>
              <a:buSzPts val="1900"/>
              <a:buChar char="●"/>
            </a:pPr>
            <a:r>
              <a:rPr lang="en" sz="1900">
                <a:solidFill>
                  <a:schemeClr val="hlink"/>
                </a:solidFill>
              </a:rPr>
              <a:t>Precision score = 0.403</a:t>
            </a:r>
            <a:endParaRPr sz="1900">
              <a:solidFill>
                <a:schemeClr val="hlink"/>
              </a:solidFill>
            </a:endParaRPr>
          </a:p>
          <a:p>
            <a:pPr indent="-349250" lvl="0" marL="457200" rtl="0" algn="l">
              <a:lnSpc>
                <a:spcPct val="200000"/>
              </a:lnSpc>
              <a:spcBef>
                <a:spcPts val="0"/>
              </a:spcBef>
              <a:spcAft>
                <a:spcPts val="0"/>
              </a:spcAft>
              <a:buClr>
                <a:schemeClr val="hlink"/>
              </a:buClr>
              <a:buSzPts val="1900"/>
              <a:buChar char="●"/>
            </a:pPr>
            <a:r>
              <a:rPr lang="en" sz="1900">
                <a:solidFill>
                  <a:schemeClr val="hlink"/>
                </a:solidFill>
              </a:rPr>
              <a:t>Recall = 0.634</a:t>
            </a:r>
            <a:endParaRPr sz="1900">
              <a:solidFill>
                <a:schemeClr val="hlink"/>
              </a:solidFill>
            </a:endParaRPr>
          </a:p>
          <a:p>
            <a:pPr indent="-349250" lvl="0" marL="457200" rtl="0" algn="l">
              <a:lnSpc>
                <a:spcPct val="200000"/>
              </a:lnSpc>
              <a:spcBef>
                <a:spcPts val="0"/>
              </a:spcBef>
              <a:spcAft>
                <a:spcPts val="0"/>
              </a:spcAft>
              <a:buClr>
                <a:schemeClr val="hlink"/>
              </a:buClr>
              <a:buSzPts val="1900"/>
              <a:buChar char="●"/>
            </a:pPr>
            <a:r>
              <a:rPr lang="en" sz="1900">
                <a:solidFill>
                  <a:schemeClr val="hlink"/>
                </a:solidFill>
              </a:rPr>
              <a:t>Mean average precision (mAP) = 0.372. </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a:t>
            </a:r>
            <a:endParaRPr/>
          </a:p>
        </p:txBody>
      </p:sp>
      <p:sp>
        <p:nvSpPr>
          <p:cNvPr id="337" name="Google Shape;337;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23850" lvl="0" marL="457200" rtl="0" algn="l">
              <a:lnSpc>
                <a:spcPct val="200000"/>
              </a:lnSpc>
              <a:spcBef>
                <a:spcPts val="0"/>
              </a:spcBef>
              <a:spcAft>
                <a:spcPts val="0"/>
              </a:spcAft>
              <a:buClr>
                <a:schemeClr val="hlink"/>
              </a:buClr>
              <a:buSzPts val="1500"/>
              <a:buChar char="●"/>
            </a:pPr>
            <a:r>
              <a:rPr lang="en" sz="1500">
                <a:solidFill>
                  <a:schemeClr val="hlink"/>
                </a:solidFill>
              </a:rPr>
              <a:t>Precision score - model was not great at accurately classifying detected objects</a:t>
            </a:r>
            <a:endParaRPr sz="1500">
              <a:solidFill>
                <a:schemeClr val="hlink"/>
              </a:solidFill>
            </a:endParaRPr>
          </a:p>
          <a:p>
            <a:pPr indent="-323850" lvl="0" marL="457200" rtl="0" algn="l">
              <a:lnSpc>
                <a:spcPct val="200000"/>
              </a:lnSpc>
              <a:spcBef>
                <a:spcPts val="0"/>
              </a:spcBef>
              <a:spcAft>
                <a:spcPts val="0"/>
              </a:spcAft>
              <a:buClr>
                <a:schemeClr val="hlink"/>
              </a:buClr>
              <a:buSzPts val="1500"/>
              <a:buChar char="●"/>
            </a:pPr>
            <a:r>
              <a:rPr lang="en" sz="1500">
                <a:solidFill>
                  <a:schemeClr val="hlink"/>
                </a:solidFill>
              </a:rPr>
              <a:t>Great at classifying buses and cars, but not people</a:t>
            </a:r>
            <a:endParaRPr sz="1500">
              <a:solidFill>
                <a:schemeClr val="hlink"/>
              </a:solidFill>
            </a:endParaRPr>
          </a:p>
          <a:p>
            <a:pPr indent="-323850" lvl="0" marL="457200" rtl="0" algn="l">
              <a:lnSpc>
                <a:spcPct val="200000"/>
              </a:lnSpc>
              <a:spcBef>
                <a:spcPts val="0"/>
              </a:spcBef>
              <a:spcAft>
                <a:spcPts val="0"/>
              </a:spcAft>
              <a:buClr>
                <a:schemeClr val="hlink"/>
              </a:buClr>
              <a:buSzPts val="1500"/>
              <a:buChar char="●"/>
            </a:pPr>
            <a:r>
              <a:rPr lang="en" sz="1500">
                <a:solidFill>
                  <a:schemeClr val="hlink"/>
                </a:solidFill>
              </a:rPr>
              <a:t>Performed okay when classifying bicycles and motorbikes</a:t>
            </a:r>
            <a:endParaRPr sz="1500">
              <a:solidFill>
                <a:schemeClr val="hlink"/>
              </a:solidFill>
            </a:endParaRPr>
          </a:p>
          <a:p>
            <a:pPr indent="-323850" lvl="0" marL="457200" rtl="0" algn="l">
              <a:lnSpc>
                <a:spcPct val="200000"/>
              </a:lnSpc>
              <a:spcBef>
                <a:spcPts val="0"/>
              </a:spcBef>
              <a:spcAft>
                <a:spcPts val="0"/>
              </a:spcAft>
              <a:buClr>
                <a:schemeClr val="hlink"/>
              </a:buClr>
              <a:buSzPts val="1500"/>
              <a:buChar char="●"/>
            </a:pPr>
            <a:r>
              <a:rPr lang="en" sz="1500">
                <a:solidFill>
                  <a:schemeClr val="hlink"/>
                </a:solidFill>
              </a:rPr>
              <a:t>Cars and buses are larger, perhaps easier to classify</a:t>
            </a:r>
            <a:endParaRPr sz="1500">
              <a:solidFill>
                <a:schemeClr val="hlink"/>
              </a:solidFill>
            </a:endParaRPr>
          </a:p>
          <a:p>
            <a:pPr indent="-323850" lvl="0" marL="457200" rtl="0" algn="l">
              <a:lnSpc>
                <a:spcPct val="200000"/>
              </a:lnSpc>
              <a:spcBef>
                <a:spcPts val="0"/>
              </a:spcBef>
              <a:spcAft>
                <a:spcPts val="0"/>
              </a:spcAft>
              <a:buClr>
                <a:schemeClr val="hlink"/>
              </a:buClr>
              <a:buSzPts val="1500"/>
              <a:buChar char="●"/>
            </a:pPr>
            <a:r>
              <a:rPr lang="en" sz="1500">
                <a:solidFill>
                  <a:schemeClr val="hlink"/>
                </a:solidFill>
              </a:rPr>
              <a:t>Recall score - model wasn’t bad at identifying most of the relevant objects in an image</a:t>
            </a:r>
            <a:endParaRPr sz="1500">
              <a:solidFill>
                <a:schemeClr val="hlink"/>
              </a:solidFill>
            </a:endParaRPr>
          </a:p>
          <a:p>
            <a:pPr indent="-323850" lvl="0" marL="457200" rtl="0" algn="l">
              <a:lnSpc>
                <a:spcPct val="200000"/>
              </a:lnSpc>
              <a:spcBef>
                <a:spcPts val="0"/>
              </a:spcBef>
              <a:spcAft>
                <a:spcPts val="0"/>
              </a:spcAft>
              <a:buClr>
                <a:schemeClr val="hlink"/>
              </a:buClr>
              <a:buSzPts val="1500"/>
              <a:buChar char="●"/>
            </a:pPr>
            <a:r>
              <a:rPr lang="en" sz="1500">
                <a:solidFill>
                  <a:schemeClr val="hlink"/>
                </a:solidFill>
              </a:rPr>
              <a:t>Low mAP score -  model was not great at detecting objects across all the different classes</a:t>
            </a:r>
            <a:endParaRPr sz="1500">
              <a:solidFill>
                <a:schemeClr val="hlink"/>
              </a:solidFill>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Confusion Matrix</a:t>
            </a:r>
            <a:endParaRPr/>
          </a:p>
        </p:txBody>
      </p:sp>
      <p:pic>
        <p:nvPicPr>
          <p:cNvPr id="343" name="Google Shape;343;p55"/>
          <p:cNvPicPr preferRelativeResize="0"/>
          <p:nvPr/>
        </p:nvPicPr>
        <p:blipFill>
          <a:blip r:embed="rId3">
            <a:alphaModFix/>
          </a:blip>
          <a:stretch>
            <a:fillRect/>
          </a:stretch>
        </p:blipFill>
        <p:spPr>
          <a:xfrm>
            <a:off x="1289775" y="1110825"/>
            <a:ext cx="5529452" cy="39293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ph type="title"/>
          </p:nvPr>
        </p:nvSpPr>
        <p:spPr>
          <a:xfrm>
            <a:off x="311700" y="19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Precision-Recall Curve</a:t>
            </a:r>
            <a:endParaRPr/>
          </a:p>
        </p:txBody>
      </p:sp>
      <p:pic>
        <p:nvPicPr>
          <p:cNvPr id="349" name="Google Shape;349;p56"/>
          <p:cNvPicPr preferRelativeResize="0"/>
          <p:nvPr/>
        </p:nvPicPr>
        <p:blipFill>
          <a:blip r:embed="rId3">
            <a:alphaModFix/>
          </a:blip>
          <a:stretch>
            <a:fillRect/>
          </a:stretch>
        </p:blipFill>
        <p:spPr>
          <a:xfrm>
            <a:off x="676050" y="838975"/>
            <a:ext cx="7516298" cy="42219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Improvements</a:t>
            </a:r>
            <a:endParaRPr/>
          </a:p>
        </p:txBody>
      </p:sp>
      <p:sp>
        <p:nvSpPr>
          <p:cNvPr id="355" name="Google Shape;355;p57"/>
          <p:cNvSpPr txBox="1"/>
          <p:nvPr>
            <p:ph idx="1" type="body"/>
          </p:nvPr>
        </p:nvSpPr>
        <p:spPr>
          <a:xfrm>
            <a:off x="311700" y="1152475"/>
            <a:ext cx="8520600" cy="36768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Clr>
                <a:schemeClr val="hlink"/>
              </a:buClr>
              <a:buSzPts val="1800"/>
              <a:buChar char="●"/>
            </a:pPr>
            <a:r>
              <a:rPr lang="en" sz="1800">
                <a:solidFill>
                  <a:schemeClr val="hlink"/>
                </a:solidFill>
              </a:rPr>
              <a:t>Model fell short in detecting smaller objects such as people and bicycles</a:t>
            </a:r>
            <a:endParaRPr sz="1800">
              <a:solidFill>
                <a:schemeClr val="hlink"/>
              </a:solidFill>
            </a:endParaRPr>
          </a:p>
          <a:p>
            <a:pPr indent="-342900" lvl="0" marL="457200" rtl="0" algn="l">
              <a:lnSpc>
                <a:spcPct val="200000"/>
              </a:lnSpc>
              <a:spcBef>
                <a:spcPts val="0"/>
              </a:spcBef>
              <a:spcAft>
                <a:spcPts val="0"/>
              </a:spcAft>
              <a:buClr>
                <a:schemeClr val="hlink"/>
              </a:buClr>
              <a:buSzPts val="1800"/>
              <a:buChar char="●"/>
            </a:pPr>
            <a:r>
              <a:rPr lang="en" sz="1800">
                <a:solidFill>
                  <a:schemeClr val="hlink"/>
                </a:solidFill>
              </a:rPr>
              <a:t>Could be for several reasons - camera quality and the amount of zoom</a:t>
            </a:r>
            <a:endParaRPr sz="1800">
              <a:solidFill>
                <a:schemeClr val="hlink"/>
              </a:solidFill>
            </a:endParaRPr>
          </a:p>
          <a:p>
            <a:pPr indent="-342900" lvl="0" marL="457200" rtl="0" algn="l">
              <a:lnSpc>
                <a:spcPct val="200000"/>
              </a:lnSpc>
              <a:spcBef>
                <a:spcPts val="0"/>
              </a:spcBef>
              <a:spcAft>
                <a:spcPts val="0"/>
              </a:spcAft>
              <a:buClr>
                <a:schemeClr val="hlink"/>
              </a:buClr>
              <a:buSzPts val="1800"/>
              <a:buChar char="●"/>
            </a:pPr>
            <a:r>
              <a:rPr lang="en" sz="1800">
                <a:solidFill>
                  <a:schemeClr val="hlink"/>
                </a:solidFill>
              </a:rPr>
              <a:t>Precision score increased only slightly across 20 epochs </a:t>
            </a:r>
            <a:endParaRPr sz="1800">
              <a:solidFill>
                <a:schemeClr val="hlink"/>
              </a:solidFill>
            </a:endParaRPr>
          </a:p>
          <a:p>
            <a:pPr indent="-342900" lvl="0" marL="457200" rtl="0" algn="l">
              <a:lnSpc>
                <a:spcPct val="200000"/>
              </a:lnSpc>
              <a:spcBef>
                <a:spcPts val="0"/>
              </a:spcBef>
              <a:spcAft>
                <a:spcPts val="0"/>
              </a:spcAft>
              <a:buClr>
                <a:schemeClr val="hlink"/>
              </a:buClr>
              <a:buSzPts val="1800"/>
              <a:buChar char="●"/>
            </a:pPr>
            <a:r>
              <a:rPr lang="en" sz="1800">
                <a:solidFill>
                  <a:schemeClr val="hlink"/>
                </a:solidFill>
              </a:rPr>
              <a:t>Recall score climbed steadily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61" name="Google Shape;361;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Clr>
                <a:schemeClr val="hlink"/>
              </a:buClr>
              <a:buSzPts val="1600"/>
              <a:buChar char="●"/>
            </a:pPr>
            <a:r>
              <a:rPr lang="en" sz="1600">
                <a:solidFill>
                  <a:schemeClr val="hlink"/>
                </a:solidFill>
              </a:rPr>
              <a:t>YOLOv5 can be viable method for reducing accidents and increasing traffic efficiency</a:t>
            </a:r>
            <a:endParaRPr sz="1600">
              <a:solidFill>
                <a:schemeClr val="hlink"/>
              </a:solidFill>
            </a:endParaRPr>
          </a:p>
          <a:p>
            <a:pPr indent="-330200" lvl="0" marL="457200" rtl="0" algn="l">
              <a:lnSpc>
                <a:spcPct val="200000"/>
              </a:lnSpc>
              <a:spcBef>
                <a:spcPts val="0"/>
              </a:spcBef>
              <a:spcAft>
                <a:spcPts val="0"/>
              </a:spcAft>
              <a:buClr>
                <a:schemeClr val="hlink"/>
              </a:buClr>
              <a:buSzPts val="1600"/>
              <a:buChar char="●"/>
            </a:pPr>
            <a:r>
              <a:rPr lang="en" sz="1600">
                <a:solidFill>
                  <a:schemeClr val="hlink"/>
                </a:solidFill>
              </a:rPr>
              <a:t>Trigger alerts when it detects dangerous behavior</a:t>
            </a:r>
            <a:endParaRPr sz="1600">
              <a:solidFill>
                <a:schemeClr val="hlink"/>
              </a:solidFill>
            </a:endParaRPr>
          </a:p>
          <a:p>
            <a:pPr indent="-330200" lvl="0" marL="457200" rtl="0" algn="l">
              <a:lnSpc>
                <a:spcPct val="200000"/>
              </a:lnSpc>
              <a:spcBef>
                <a:spcPts val="0"/>
              </a:spcBef>
              <a:spcAft>
                <a:spcPts val="0"/>
              </a:spcAft>
              <a:buClr>
                <a:schemeClr val="hlink"/>
              </a:buClr>
              <a:buSzPts val="1600"/>
              <a:buChar char="●"/>
            </a:pPr>
            <a:r>
              <a:rPr lang="en" sz="1600">
                <a:solidFill>
                  <a:schemeClr val="hlink"/>
                </a:solidFill>
              </a:rPr>
              <a:t>Optimize traffic light timings or route adjustments to smooth traffic flow</a:t>
            </a:r>
            <a:endParaRPr sz="1600">
              <a:solidFill>
                <a:schemeClr val="hlink"/>
              </a:solidFill>
            </a:endParaRPr>
          </a:p>
          <a:p>
            <a:pPr indent="-330200" lvl="0" marL="457200" rtl="0" algn="l">
              <a:lnSpc>
                <a:spcPct val="200000"/>
              </a:lnSpc>
              <a:spcBef>
                <a:spcPts val="0"/>
              </a:spcBef>
              <a:spcAft>
                <a:spcPts val="0"/>
              </a:spcAft>
              <a:buClr>
                <a:schemeClr val="hlink"/>
              </a:buClr>
              <a:buSzPts val="1600"/>
              <a:buChar char="●"/>
            </a:pPr>
            <a:r>
              <a:rPr lang="en" sz="1600">
                <a:solidFill>
                  <a:schemeClr val="hlink"/>
                </a:solidFill>
              </a:rPr>
              <a:t>Automatically detect accidents and alert emergency services</a:t>
            </a:r>
            <a:endParaRPr sz="1600">
              <a:solidFill>
                <a:schemeClr val="hlink"/>
              </a:solidFill>
            </a:endParaRPr>
          </a:p>
          <a:p>
            <a:pPr indent="-330200" lvl="0" marL="457200" rtl="0" algn="l">
              <a:lnSpc>
                <a:spcPct val="200000"/>
              </a:lnSpc>
              <a:spcBef>
                <a:spcPts val="0"/>
              </a:spcBef>
              <a:spcAft>
                <a:spcPts val="0"/>
              </a:spcAft>
              <a:buClr>
                <a:schemeClr val="hlink"/>
              </a:buClr>
              <a:buSzPts val="1600"/>
              <a:buChar char="●"/>
            </a:pPr>
            <a:r>
              <a:rPr lang="en" sz="1600">
                <a:solidFill>
                  <a:schemeClr val="hlink"/>
                </a:solidFill>
              </a:rPr>
              <a:t>Can be used to increase overall public safety</a:t>
            </a:r>
            <a:endParaRPr sz="1600">
              <a:solidFill>
                <a:schemeClr val="hlink"/>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